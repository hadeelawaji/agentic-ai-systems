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1"/>
  </p:notesMasterIdLst>
  <p:handoutMasterIdLst>
    <p:handoutMasterId r:id="rId12"/>
  </p:handoutMasterIdLst>
  <p:sldIdLst>
    <p:sldId id="1497" r:id="rId5"/>
    <p:sldId id="1514" r:id="rId6"/>
    <p:sldId id="1515" r:id="rId7"/>
    <p:sldId id="1511" r:id="rId8"/>
    <p:sldId id="1500" r:id="rId9"/>
    <p:sldId id="151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AC460B-3711-4CB0-A104-28FB096AB691}" v="100" dt="2026-03-09T06:18:59.356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079" autoAdjust="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33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020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18217" y="840318"/>
            <a:ext cx="9983687" cy="547908"/>
          </a:xfrm>
        </p:spPr>
        <p:txBody>
          <a:bodyPr>
            <a:noAutofit/>
          </a:bodyPr>
          <a:lstStyle/>
          <a:p>
            <a:r>
              <a:rPr lang="en-US" sz="3200" b="1" dirty="0"/>
              <a:t>Case Study: </a:t>
            </a:r>
          </a:p>
          <a:p>
            <a:r>
              <a:rPr lang="en-US" sz="3200" dirty="0" err="1"/>
              <a:t>Replit</a:t>
            </a:r>
            <a:r>
              <a:rPr lang="en-US" sz="3200" dirty="0"/>
              <a:t> Agent – Pushing the Frontiers of Agentic AI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DBDBF3-1028-CA74-0E2D-FBBF021FC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800" y="2686471"/>
            <a:ext cx="2729935" cy="2353021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68B0B6A8-B610-1944-1AFF-5DC5D2FDA8C7}"/>
              </a:ext>
            </a:extLst>
          </p:cNvPr>
          <p:cNvSpPr txBox="1">
            <a:spLocks/>
          </p:cNvSpPr>
          <p:nvPr/>
        </p:nvSpPr>
        <p:spPr>
          <a:xfrm>
            <a:off x="1645728" y="2628428"/>
            <a:ext cx="5713718" cy="5479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Company:</a:t>
            </a:r>
            <a:r>
              <a:rPr lang="en-US" sz="1400" dirty="0"/>
              <a:t> </a:t>
            </a:r>
            <a:r>
              <a:rPr lang="en-US" sz="1400" dirty="0" err="1"/>
              <a:t>Replit</a:t>
            </a:r>
            <a:endParaRPr lang="en-US" sz="1400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7CA008A-425C-9437-2929-FA09191EA5F6}"/>
              </a:ext>
            </a:extLst>
          </p:cNvPr>
          <p:cNvSpPr txBox="1">
            <a:spLocks/>
          </p:cNvSpPr>
          <p:nvPr/>
        </p:nvSpPr>
        <p:spPr>
          <a:xfrm>
            <a:off x="1645728" y="2995018"/>
            <a:ext cx="5713718" cy="5479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Industry:</a:t>
            </a:r>
            <a:r>
              <a:rPr lang="en-US" sz="1400" dirty="0"/>
              <a:t> Software Development Platform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E9BA5E7-9A4D-A671-C0A8-B1A363E11B20}"/>
              </a:ext>
            </a:extLst>
          </p:cNvPr>
          <p:cNvSpPr txBox="1">
            <a:spLocks/>
          </p:cNvSpPr>
          <p:nvPr/>
        </p:nvSpPr>
        <p:spPr>
          <a:xfrm>
            <a:off x="1645728" y="3398105"/>
            <a:ext cx="5713718" cy="5479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Use Case:</a:t>
            </a:r>
            <a:r>
              <a:rPr lang="en-US" sz="1400" dirty="0"/>
              <a:t> AI-powered app creation &amp; collaborative coding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F00ED46-CE4A-D3DA-149B-54002901BC27}"/>
              </a:ext>
            </a:extLst>
          </p:cNvPr>
          <p:cNvSpPr txBox="1">
            <a:spLocks/>
          </p:cNvSpPr>
          <p:nvPr/>
        </p:nvSpPr>
        <p:spPr>
          <a:xfrm>
            <a:off x="1645728" y="3862982"/>
            <a:ext cx="5713718" cy="5479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Reference:</a:t>
            </a:r>
            <a:r>
              <a:rPr lang="en-US" sz="1400" dirty="0"/>
              <a:t> </a:t>
            </a:r>
            <a:r>
              <a:rPr lang="en-US" sz="1400" dirty="0" err="1"/>
              <a:t>LangChain</a:t>
            </a:r>
            <a:r>
              <a:rPr lang="en-US" sz="1400" dirty="0"/>
              <a:t> Case Studies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203DB93-A1A0-716D-3213-7D57C67856D3}"/>
              </a:ext>
            </a:extLst>
          </p:cNvPr>
          <p:cNvSpPr txBox="1">
            <a:spLocks/>
          </p:cNvSpPr>
          <p:nvPr/>
        </p:nvSpPr>
        <p:spPr>
          <a:xfrm>
            <a:off x="1645728" y="4289336"/>
            <a:ext cx="5713718" cy="5479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Presented by:</a:t>
            </a:r>
            <a:r>
              <a:rPr lang="en-US" sz="1400" dirty="0"/>
              <a:t> Hadeel Awaji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70C0415-427B-6E7E-4BD9-354F6DB60498}"/>
              </a:ext>
            </a:extLst>
          </p:cNvPr>
          <p:cNvSpPr txBox="1">
            <a:spLocks/>
          </p:cNvSpPr>
          <p:nvPr/>
        </p:nvSpPr>
        <p:spPr>
          <a:xfrm>
            <a:off x="1645728" y="4684844"/>
            <a:ext cx="5713718" cy="5479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Department:</a:t>
            </a:r>
            <a:r>
              <a:rPr lang="en-US" sz="1400" dirty="0"/>
              <a:t> Imam Mohammed bin Saud University / CS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356596A-B3B2-407F-1629-579D06CB4D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65" y="986765"/>
            <a:ext cx="1283261" cy="128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/>
          <a:lstStyle/>
          <a:p>
            <a:r>
              <a:rPr lang="en-US" sz="3600" dirty="0"/>
              <a:t>Problem /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>
            <a:noAutofit/>
          </a:bodyPr>
          <a:lstStyle/>
          <a:p>
            <a:r>
              <a:rPr lang="en-US" sz="1600" dirty="0"/>
              <a:t>Sessions are complex, with hundreds of steps</a:t>
            </a:r>
          </a:p>
          <a:p>
            <a:r>
              <a:rPr lang="en-US" sz="1600" dirty="0"/>
              <a:t>Standard tools track only single API calls</a:t>
            </a:r>
          </a:p>
          <a:p>
            <a:r>
              <a:rPr lang="en-US" sz="1600" dirty="0"/>
              <a:t>Massive trace data is hard to analyze</a:t>
            </a:r>
          </a:p>
          <a:p>
            <a:r>
              <a:rPr lang="en-US" sz="1600" dirty="0"/>
              <a:t>Debugging specific issues is time-consuming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7270AD1A-8F9F-BF9D-AE26-986ADE7EF3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49422" y="333756"/>
            <a:ext cx="6086539" cy="6190488"/>
          </a:xfrm>
        </p:spPr>
      </p:pic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AA463-F531-1FC1-6826-167C367BD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kern="1200" cap="all" spc="50" baseline="0" dirty="0">
                <a:latin typeface="+mj-lt"/>
                <a:ea typeface="+mj-ea"/>
                <a:cs typeface="+mj-cs"/>
              </a:rPr>
              <a:t>Solution Overview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1C53DF-0E89-1A52-1618-24DCD134395C}"/>
              </a:ext>
            </a:extLst>
          </p:cNvPr>
          <p:cNvSpPr txBox="1">
            <a:spLocks/>
          </p:cNvSpPr>
          <p:nvPr/>
        </p:nvSpPr>
        <p:spPr>
          <a:xfrm>
            <a:off x="4419600" y="561425"/>
            <a:ext cx="7772400" cy="2240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1800" b="1" dirty="0" err="1"/>
              <a:t>Replit</a:t>
            </a:r>
            <a:r>
              <a:rPr lang="en-US" sz="1800" b="1" dirty="0"/>
              <a:t> Agent:</a:t>
            </a:r>
            <a:r>
              <a:rPr lang="en-US" sz="1800" dirty="0"/>
              <a:t> AI assistant for building full applications</a:t>
            </a:r>
          </a:p>
          <a:p>
            <a:pPr marL="285750" indent="-285750"/>
            <a:r>
              <a:rPr lang="en-US" sz="1800" b="1" dirty="0" err="1"/>
              <a:t>LangGraph</a:t>
            </a:r>
            <a:r>
              <a:rPr lang="en-US" sz="1800" b="1" dirty="0"/>
              <a:t>:</a:t>
            </a:r>
            <a:r>
              <a:rPr lang="en-US" sz="1800" dirty="0"/>
              <a:t> Manages complex, multi-step workflows</a:t>
            </a:r>
          </a:p>
          <a:p>
            <a:pPr marL="285750" indent="-285750"/>
            <a:r>
              <a:rPr lang="en-US" sz="1800" b="1" dirty="0" err="1"/>
              <a:t>LangSmith</a:t>
            </a:r>
            <a:r>
              <a:rPr lang="en-US" sz="1800" b="1" dirty="0"/>
              <a:t>:</a:t>
            </a:r>
            <a:r>
              <a:rPr lang="en-US" sz="1800" dirty="0"/>
              <a:t> Traces execution flow from start to finish</a:t>
            </a:r>
          </a:p>
          <a:p>
            <a:pPr marL="285750" indent="-285750"/>
            <a:r>
              <a:rPr lang="en-US" sz="1800" dirty="0"/>
              <a:t>Developers gain </a:t>
            </a:r>
            <a:r>
              <a:rPr lang="en-US" sz="1800" b="1" dirty="0"/>
              <a:t>granular visibility</a:t>
            </a:r>
            <a:r>
              <a:rPr lang="en-US" sz="1800" dirty="0"/>
              <a:t> into AI decisions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1EF933-2137-DFD4-2B75-4A97C347E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94345"/>
            <a:ext cx="12192000" cy="37490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6E2C-040E-4D92-F9F7-F61C47F4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843" y="885550"/>
            <a:ext cx="9295961" cy="870146"/>
          </a:xfrm>
        </p:spPr>
        <p:txBody>
          <a:bodyPr/>
          <a:lstStyle/>
          <a:p>
            <a:r>
              <a:rPr lang="en-US" dirty="0"/>
              <a:t>Agentic Functions &amp;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E18F-CF72-C06C-3020-B9FA4DEAB72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39575" y="5228292"/>
            <a:ext cx="6360733" cy="744158"/>
          </a:xfrm>
        </p:spPr>
        <p:txBody>
          <a:bodyPr/>
          <a:lstStyle/>
          <a:p>
            <a:r>
              <a:rPr lang="en-US" dirty="0"/>
              <a:t>User: "Build a weather app" → Plans → Sets up server → Installs libraries → Writes code → Deploys live site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5D387E-69AE-8736-2D0C-F0E90D9E7229}"/>
              </a:ext>
            </a:extLst>
          </p:cNvPr>
          <p:cNvSpPr txBox="1">
            <a:spLocks/>
          </p:cNvSpPr>
          <p:nvPr/>
        </p:nvSpPr>
        <p:spPr>
          <a:xfrm>
            <a:off x="5139575" y="5011723"/>
            <a:ext cx="9295961" cy="342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500" b="0" kern="1200" cap="all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u="sng" dirty="0"/>
              <a:t>example workflow:</a:t>
            </a:r>
            <a:endParaRPr lang="en-US" sz="16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B25513-713A-ED14-0484-3BAEB8D022D3}"/>
              </a:ext>
            </a:extLst>
          </p:cNvPr>
          <p:cNvSpPr txBox="1">
            <a:spLocks/>
          </p:cNvSpPr>
          <p:nvPr/>
        </p:nvSpPr>
        <p:spPr>
          <a:xfrm>
            <a:off x="737843" y="1672924"/>
            <a:ext cx="7582099" cy="351215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Autonomous Planning:</a:t>
            </a:r>
            <a:r>
              <a:rPr lang="en-US" sz="1800" dirty="0"/>
              <a:t> Determines project steps</a:t>
            </a:r>
          </a:p>
          <a:p>
            <a:r>
              <a:rPr lang="en-US" sz="1800" b="1" dirty="0"/>
              <a:t>Tool Usage:</a:t>
            </a:r>
            <a:r>
              <a:rPr lang="en-US" sz="1800" dirty="0"/>
              <a:t> Sets up environments, installs dependencies</a:t>
            </a:r>
          </a:p>
          <a:p>
            <a:r>
              <a:rPr lang="en-US" sz="1800" b="1" dirty="0"/>
              <a:t>Decision-Making:</a:t>
            </a:r>
            <a:r>
              <a:rPr lang="en-US" sz="1800" dirty="0"/>
              <a:t> Chooses when to write, review, and deploy code</a:t>
            </a:r>
          </a:p>
          <a:p>
            <a:r>
              <a:rPr lang="en-US" sz="1800" b="1" dirty="0"/>
              <a:t>Multi-Agent System: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7712BB-72C7-3823-937A-6592628FBAC8}"/>
              </a:ext>
            </a:extLst>
          </p:cNvPr>
          <p:cNvSpPr txBox="1">
            <a:spLocks/>
          </p:cNvSpPr>
          <p:nvPr/>
        </p:nvSpPr>
        <p:spPr>
          <a:xfrm>
            <a:off x="843860" y="4156064"/>
            <a:ext cx="5053357" cy="181638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b="1" dirty="0"/>
              <a:t>Managing Agent:</a:t>
            </a:r>
            <a:r>
              <a:rPr lang="en-US" dirty="0"/>
              <a:t> Coordinates project</a:t>
            </a:r>
          </a:p>
          <a:p>
            <a:pPr>
              <a:buFontTx/>
              <a:buChar char="-"/>
            </a:pPr>
            <a:r>
              <a:rPr lang="en-US" b="1" dirty="0"/>
              <a:t>Editing Agent:</a:t>
            </a:r>
            <a:r>
              <a:rPr lang="en-US" dirty="0"/>
              <a:t> Writes/modifies code</a:t>
            </a:r>
          </a:p>
          <a:p>
            <a:pPr>
              <a:buFontTx/>
              <a:buChar char="-"/>
            </a:pPr>
            <a:r>
              <a:rPr lang="en-US" b="1" dirty="0"/>
              <a:t>Verifying Agent:</a:t>
            </a:r>
            <a:r>
              <a:rPr lang="en-US" dirty="0"/>
              <a:t> Checks code quality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1E28C4-2EB5-C55B-B1B8-94902E167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851" y="3317966"/>
            <a:ext cx="5662756" cy="154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553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072A-5F3E-FB56-A498-3CACC2B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65" y="1623611"/>
            <a:ext cx="4361688" cy="1649694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Non-Agentic Components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C163F90-D917-75D1-FF1F-BD0F01F9C187}"/>
              </a:ext>
            </a:extLst>
          </p:cNvPr>
          <p:cNvSpPr txBox="1">
            <a:spLocks/>
          </p:cNvSpPr>
          <p:nvPr/>
        </p:nvSpPr>
        <p:spPr>
          <a:xfrm>
            <a:off x="718665" y="3012303"/>
            <a:ext cx="5170964" cy="21798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LLM APIs (external text processing)</a:t>
            </a:r>
          </a:p>
          <a:p>
            <a:r>
              <a:rPr lang="en-US" sz="1800" dirty="0"/>
              <a:t>Backend storage &amp; data ingestion</a:t>
            </a:r>
          </a:p>
          <a:p>
            <a:r>
              <a:rPr lang="en-US" sz="1800" dirty="0"/>
              <a:t>Frontend UI / charts</a:t>
            </a:r>
          </a:p>
          <a:p>
            <a:r>
              <a:rPr lang="en-US" sz="1800" dirty="0"/>
              <a:t>Observability platform (records agent actions)</a:t>
            </a:r>
          </a:p>
        </p:txBody>
      </p: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67488EA5-3861-A330-9C37-39FFA4677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6297" y="1262996"/>
            <a:ext cx="721229" cy="721229"/>
          </a:xfrm>
          <a:prstGeom prst="rect">
            <a:avLst/>
          </a:prstGeom>
        </p:spPr>
      </p:pic>
      <p:pic>
        <p:nvPicPr>
          <p:cNvPr id="12" name="Graphic 11" descr="Download outline">
            <a:extLst>
              <a:ext uri="{FF2B5EF4-FFF2-40B4-BE49-F238E27FC236}">
                <a16:creationId xmlns:a16="http://schemas.microsoft.com/office/drawing/2014/main" id="{D80D5C49-924B-C32B-63EF-4B20E92510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9685" y="1245177"/>
            <a:ext cx="723849" cy="723849"/>
          </a:xfrm>
          <a:prstGeom prst="rect">
            <a:avLst/>
          </a:prstGeom>
        </p:spPr>
      </p:pic>
      <p:pic>
        <p:nvPicPr>
          <p:cNvPr id="14" name="Graphic 13" descr="Cursor outline">
            <a:extLst>
              <a:ext uri="{FF2B5EF4-FFF2-40B4-BE49-F238E27FC236}">
                <a16:creationId xmlns:a16="http://schemas.microsoft.com/office/drawing/2014/main" id="{DF7ECDAB-6665-667B-D6E1-5A79974F9B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6681" y="1245178"/>
            <a:ext cx="723849" cy="72384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8BA94A4-70DE-A40B-3556-84F796878A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200" y="1992433"/>
            <a:ext cx="6226812" cy="365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60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B897C-9D62-36E3-5DC1-154478A93E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900795" y="1839503"/>
            <a:ext cx="9264676" cy="1665097"/>
          </a:xfrm>
        </p:spPr>
        <p:txBody>
          <a:bodyPr/>
          <a:lstStyle/>
          <a:p>
            <a:pPr algn="r"/>
            <a:r>
              <a:rPr lang="en-US" sz="3600" dirty="0"/>
              <a:t>Benefits &amp; Key Takeaways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47CAB2-AA33-688D-1350-66FEBD87741F}"/>
              </a:ext>
            </a:extLst>
          </p:cNvPr>
          <p:cNvSpPr txBox="1">
            <a:spLocks/>
          </p:cNvSpPr>
          <p:nvPr/>
        </p:nvSpPr>
        <p:spPr>
          <a:xfrm>
            <a:off x="946825" y="2984992"/>
            <a:ext cx="10503051" cy="21798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Faster</a:t>
            </a:r>
            <a:r>
              <a:rPr lang="en-US" sz="1800" dirty="0"/>
              <a:t> </a:t>
            </a:r>
            <a:r>
              <a:rPr lang="en-US" sz="1800" b="1" dirty="0"/>
              <a:t>Debugging:</a:t>
            </a:r>
            <a:r>
              <a:rPr lang="en-US" sz="1800" dirty="0"/>
              <a:t> Search traces for issues</a:t>
            </a:r>
          </a:p>
          <a:p>
            <a:r>
              <a:rPr lang="en-US" sz="1800" b="1" dirty="0"/>
              <a:t>Holistic</a:t>
            </a:r>
            <a:r>
              <a:rPr lang="en-US" sz="1800" dirty="0"/>
              <a:t> </a:t>
            </a:r>
            <a:r>
              <a:rPr lang="en-US" sz="1800" b="1" dirty="0"/>
              <a:t>Context:</a:t>
            </a:r>
            <a:r>
              <a:rPr lang="en-US" sz="1800" dirty="0"/>
              <a:t> Understand AI reasoning</a:t>
            </a:r>
          </a:p>
          <a:p>
            <a:r>
              <a:rPr lang="en-US" sz="1800" b="1" dirty="0"/>
              <a:t>Human-in-the-Loop:</a:t>
            </a:r>
            <a:r>
              <a:rPr lang="en-US" sz="1800" dirty="0"/>
              <a:t> Users can correct AI paths</a:t>
            </a:r>
          </a:p>
          <a:p>
            <a:r>
              <a:rPr lang="en-US" sz="1800" b="1" dirty="0"/>
              <a:t>Scalable</a:t>
            </a:r>
            <a:r>
              <a:rPr lang="en-US" sz="1800" dirty="0"/>
              <a:t>: Handles millions of users</a:t>
            </a:r>
          </a:p>
          <a:p>
            <a:r>
              <a:rPr lang="en-US" sz="1800" b="1" dirty="0"/>
              <a:t>Agentic AI Lesson: </a:t>
            </a:r>
            <a:r>
              <a:rPr lang="en-US" sz="1800" dirty="0"/>
              <a:t>AI can </a:t>
            </a:r>
            <a:r>
              <a:rPr lang="en-US" sz="1800" b="1" dirty="0"/>
              <a:t>plan, reason, and execute</a:t>
            </a:r>
            <a:r>
              <a:rPr lang="en-US" sz="1800" dirty="0"/>
              <a:t>, while traditional software supports it</a:t>
            </a:r>
          </a:p>
        </p:txBody>
      </p:sp>
      <p:pic>
        <p:nvPicPr>
          <p:cNvPr id="14" name="Picture Placeholder 10">
            <a:extLst>
              <a:ext uri="{FF2B5EF4-FFF2-40B4-BE49-F238E27FC236}">
                <a16:creationId xmlns:a16="http://schemas.microsoft.com/office/drawing/2014/main" id="{C6C20962-8E0B-7D1B-49BD-79D82EA75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97643" y="1509342"/>
            <a:ext cx="2647532" cy="2536927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</p:spPr>
      </p:pic>
      <p:pic>
        <p:nvPicPr>
          <p:cNvPr id="12" name="Picture Placeholder 10">
            <a:extLst>
              <a:ext uri="{FF2B5EF4-FFF2-40B4-BE49-F238E27FC236}">
                <a16:creationId xmlns:a16="http://schemas.microsoft.com/office/drawing/2014/main" id="{E390330C-46A2-9AE6-7E7F-7EC0D52671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93928" y="2672051"/>
            <a:ext cx="2198027" cy="2198027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4928000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{A6F3B468-A8DD-44B5-A8D2-B8D1B88B543B}f4c2fa09-5552-4190-875c-1979579583e2-TFc553d604-a3b6-4c52-b2ed-3a769335c0fd_win32</Template>
  <TotalTime>117</TotalTime>
  <Words>266</Words>
  <Application>Microsoft Office PowerPoint</Application>
  <PresentationFormat>Widescreen</PresentationFormat>
  <Paragraphs>41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Lora</vt:lpstr>
      <vt:lpstr>Playfair Display Black</vt:lpstr>
      <vt:lpstr>Poppins Light</vt:lpstr>
      <vt:lpstr>Gradient Circle</vt:lpstr>
      <vt:lpstr>PowerPoint Presentation</vt:lpstr>
      <vt:lpstr>Problem / Challenge</vt:lpstr>
      <vt:lpstr>Solution Overview</vt:lpstr>
      <vt:lpstr>Agentic Functions &amp; Roles</vt:lpstr>
      <vt:lpstr>Non-Agentic Components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Hadeel Awaji</dc:creator>
  <cp:lastModifiedBy>Hadeel Awaji</cp:lastModifiedBy>
  <cp:revision>2</cp:revision>
  <dcterms:created xsi:type="dcterms:W3CDTF">2026-03-09T04:26:44Z</dcterms:created>
  <dcterms:modified xsi:type="dcterms:W3CDTF">2026-03-10T04:32:25Z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